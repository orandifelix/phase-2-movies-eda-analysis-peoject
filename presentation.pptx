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Box Office Intelligence: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87782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 for a New Movie Studio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7955280" cy="36576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554480"/>
            <a:ext cx="1664208" cy="310896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55448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Office Mojo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12464" y="1554480"/>
            <a:ext cx="1664208" cy="310896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2464" y="155448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04688" y="1554480"/>
            <a:ext cx="1664208" cy="310896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4688" y="155448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96912" y="1554480"/>
            <a:ext cx="1664208" cy="310896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96912" y="155448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Rotten Tomatoes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195681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2010–2018  |  3,359 Films  |  5 Datasets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2340864"/>
            <a:ext cx="7955280" cy="36576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487168"/>
            <a:ext cx="7955280" cy="2340864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487168"/>
            <a:ext cx="64008" cy="2340864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57860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Group 1  ·  Data Science Cohort  ·  Moringa School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" y="3044952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2999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Chelimo Ivy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73168" y="3044952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999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Shadrack Symekah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41248" y="3794760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3749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Oketch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73168" y="3794760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749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Orandi Felix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09728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144475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entering the film industry and what success looks like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64008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09728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50408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50408" y="144475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we analyzed and how we cleaned &amp; interpreted 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267712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67712"/>
            <a:ext cx="64008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35915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7008" y="2359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Revenue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270662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genres generate the highest box office returns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267712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67712"/>
            <a:ext cx="64008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35915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50408" y="2359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Profitability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50408" y="270662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budget size relates to profit rates and ROI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529584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9584"/>
            <a:ext cx="64008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362102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07008" y="36210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Reception Impact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07008" y="396849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good Rotten Tomatoes score drive box office revenue?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529584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529584"/>
            <a:ext cx="64008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62102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50408" y="36210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50408" y="396849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actionable strategies for our studio launch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Understanding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stage — why movies, why now?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143000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64008" cy="114300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8016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box office averaged ~$28B per year from 2010–2018,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over 400 films released annually.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2651760" cy="2377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14600"/>
            <a:ext cx="2651760" cy="54864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334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309067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companies are investing billions in content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63931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has expanded global audience reach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418795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now enables smarter greenlight decisions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514600"/>
            <a:ext cx="2651760" cy="2377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514600"/>
            <a:ext cx="2651760" cy="54864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6334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309067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films lose money — failure rate is high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363931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Hit-driven industry with uncertain returns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418795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strategic data analysis to compete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514600"/>
            <a:ext cx="2651760" cy="2377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2514600"/>
            <a:ext cx="2651760" cy="54864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6334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44768" y="309067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genres, budgets &amp; quality thresholds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44768" y="363931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profitable, sustainable slate strategy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44768" y="418795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with evidence-backed investment decisions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Understanding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data come from, and what does it tell us?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62456"/>
            <a:ext cx="7772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62456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36192" y="134416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Office Mojo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36192" y="1691640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names, domestic gross, and release year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36192" y="2112264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3,359 films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234440"/>
            <a:ext cx="64008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65192" y="1362456"/>
            <a:ext cx="7772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362456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79592" y="134416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79592" y="1691640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budgets and worldwide gross figures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79592" y="2112264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5,415 films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788920"/>
            <a:ext cx="64008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2916936"/>
            <a:ext cx="7772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916936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36192" y="289864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36192" y="3246120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tags and release metadata for each title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36192" y="3666744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78892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788920"/>
            <a:ext cx="64008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5192" y="2916936"/>
            <a:ext cx="7772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65192" y="2916936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79592" y="289864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Rotten Tomatoes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79592" y="3246120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scores (Fresh %) and total review counts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79592" y="3666744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+ reviews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51960"/>
            <a:ext cx="8229600" cy="658368"/>
          </a:xfrm>
          <a:prstGeom prst="rect">
            <a:avLst/>
          </a:prstGeom>
          <a:solidFill>
            <a:srgbClr val="EAE8E3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31596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Preparation:  All datasets were cleaned to remove missing values, normalize currency figures, and merged on shared film titles. Analysis covers theatrical films released 2010–2018.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1 — Genre Revenue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genres consistently earn the most at the box office?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621792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170432"/>
            <a:ext cx="2103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720840" y="1170432"/>
            <a:ext cx="64008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76288" y="124358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Sci-Fi &amp; Fantasy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76288" y="153619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$81M avg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876288" y="190195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earning genre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720840" y="2359152"/>
            <a:ext cx="2103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20840" y="2359152"/>
            <a:ext cx="64008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76288" y="243230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&amp; Adventure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76288" y="27249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$62M avg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876288" y="309067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earning genre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720840" y="3547872"/>
            <a:ext cx="2103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720840" y="3547872"/>
            <a:ext cx="64008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76288" y="362102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76288" y="391363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$56M avg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76288" y="427939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earning genre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 — Genre Revenue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about genre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25296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143000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Sci-Fi &amp; Fantasy</a:t>
            </a:r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leads at $80.9M avg — a few mega-hits pull the mean up, but the median is also strong.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92224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920240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837944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&amp; Adventure</a:t>
            </a:r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offers the best volume + performance balance: 366 films at $62.3M avg.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15184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532888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only 47 films but is the most consistent — almost no animated wide releases failed.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310128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227832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 &amp; Drama</a:t>
            </a:r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dominate total volume but earn only $41.9M and $28.3M avg — inefficient for a new studio.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77056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4005072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922776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</a:t>
            </a:r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earns just $26.4M avg but has exceptional ROI potential at micro-budgets ($1–5M).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 — Genre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 of the genre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896112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64008" cy="89611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52144"/>
            <a:ext cx="7909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choice significantly influences revenue potential, but the optimal strategy depends on balancing earning power, consistency, and scalability.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4069080" cy="102412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12848"/>
            <a:ext cx="64008" cy="1024128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04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earnings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Sci-Fi, Fantasy &amp; Action deliver the highest avg revenue per film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212848"/>
            <a:ext cx="4069080" cy="102412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2212848"/>
            <a:ext cx="64008" cy="1024128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304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651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has the lowest failure rate — nearly every wide release succeeds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56432"/>
            <a:ext cx="4069080" cy="102412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56432"/>
            <a:ext cx="64008" cy="1024128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47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8953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 &amp; Drama require high volume to generate impact — too risky to lead with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456432"/>
            <a:ext cx="4069080" cy="102412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456432"/>
            <a:ext cx="64008" cy="1024128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547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play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8953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at micro-budgets ($1–5M) offers strong ROI for cash-flow diversification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2 — Budget &amp; ROI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production budget affect profitability and return on investment?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621792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170432"/>
            <a:ext cx="2103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720840" y="1170432"/>
            <a:ext cx="64008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76288" y="124358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Budget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76288" y="153619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$100–200M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876288" y="190195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profit rate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720840" y="2359152"/>
            <a:ext cx="2103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20840" y="2359152"/>
            <a:ext cx="64008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76288" y="243230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ROI at that tier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76288" y="27249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2.79×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876288" y="309067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720840" y="3547872"/>
            <a:ext cx="2103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720840" y="3547872"/>
            <a:ext cx="64008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76288" y="362102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budgets ($200M+)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76288" y="391363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3.43×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76288" y="427939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— 95% profit rate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2 — Budget &amp; ROI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production budget size relates to profitability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25296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143000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$100M–$200M tier</a:t>
            </a:r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achieves a 93.1% profit rate — 93 of every 100 films recoup their budget.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92224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920240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837944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ROI of 2.79×</a:t>
            </a:r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a $150M film earns ~$418M worldwide at the median.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15184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532888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&amp; low tiers (&lt;$50M)</a:t>
            </a:r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have only 61–66% profit rates — cheap films carry more risk than assumed.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310128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227832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tier ($200M+)</a:t>
            </a:r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the best stats (95.1%, 3.43× ROI) but requires established infrastructure.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77056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4005072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922776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Log-log scatter</a:t>
            </a:r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a clear pattern: bigger budgets cluster near break-even; small budgets widely dispersed below.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 — Budget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 of the budget &amp; ROI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896112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64008" cy="89611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52144"/>
            <a:ext cx="7909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strategy is not to minimize cost or maximize scale — there is a 'sweet spot' in the $100M–$200M range where profitability and risk are best balanced.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2514600" cy="2560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$50M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61–66%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35844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ROI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8130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1.72–1.76×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as lead tier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37560" y="2212848"/>
            <a:ext cx="2514600" cy="256032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3317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$100M–$200M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2834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306324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93.1%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37560" y="35844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ROI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38130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2.79×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37560" y="42062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2212848"/>
            <a:ext cx="2514600" cy="2560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3317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$200M+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2834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306324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95.1%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26480" y="35844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ROI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38130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3.43×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26480" y="42062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returns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into later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3 — Critical Reception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good Rotten Tomatoes score actually drive more box office revenue?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621792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170432"/>
            <a:ext cx="2103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720840" y="1170432"/>
            <a:ext cx="64008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76288" y="124358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Fresh vs Rotten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76288" y="153619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876288" y="190195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premium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720840" y="2359152"/>
            <a:ext cx="2103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20840" y="2359152"/>
            <a:ext cx="64008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76288" y="243230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Cert. Fresh avg gross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76288" y="27249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$47M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876288" y="309067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$36M for Rotten films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720840" y="3547872"/>
            <a:ext cx="2103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720840" y="3547872"/>
            <a:ext cx="64008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76288" y="362102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High-gross films median RT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76288" y="391363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76288" y="427939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Score average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3 — Critical Reception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Rotten Tomatoes scores relate to box office revenue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25296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143000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Fresh (91–100%)</a:t>
            </a:r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earns $46.9M avg — approximately +30% more than Rotten films ($36.1M).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92224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920240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837944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perfectly linear</a:t>
            </a:r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61–75% Fresh band underperforms due to limited-release prestige films with small theatrical footprints.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15184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532888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chart</a:t>
            </a:r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high-grossing films cluster at higher RT scores; low-grossing films concentrate at lower ranges.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310128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227832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R²</a:t>
            </a:r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blockbuster franchise films earn huge grosses regardless of reviews, but for most films quality matters.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77056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4005072"/>
            <a:ext cx="256032" cy="25603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922776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</a:t>
            </a:r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invest in script development, experienced directors &amp; post-production. Don't cut quality to hit a release date.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 — Quality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 of the critical reception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896112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64008" cy="89611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52144"/>
            <a:ext cx="7909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reception is a meaningful but not dominant driver of success. Treat quality as a competitive advantage — not a guarantee.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4069080" cy="987552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12848"/>
            <a:ext cx="64008" cy="98755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04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for quality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with strong critical track records for the first 3 films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212848"/>
            <a:ext cx="4069080" cy="987552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2212848"/>
            <a:ext cx="64008" cy="98755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304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scripts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651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$2M–$5M for script development before greenlighting production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56432"/>
            <a:ext cx="4069080" cy="987552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56432"/>
            <a:ext cx="64008" cy="98755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47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89534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scores don't help if the film has a limited release — align scale with quality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456432"/>
            <a:ext cx="4069080" cy="987552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456432"/>
            <a:ext cx="64008" cy="98755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547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over cut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89534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date flexibility is a competitive advantage — delay rather than compromise quality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 Analysis — Market Context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trends, studio performance, MPAA ratings, and runtime insights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78992"/>
            <a:ext cx="841248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Three Recommendations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strategies for a successful studio launch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078992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107899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17904"/>
            <a:ext cx="493776" cy="493776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1790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8448" y="1307592"/>
            <a:ext cx="7178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Sci-Fi, Action &amp; Animation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98448" y="1655064"/>
            <a:ext cx="7178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Sci-Fi &amp; Fantasy averages $81M per film — 60% more than Drama. Action &amp; Animation follow at $62M and $56M. These genres dominate worldwide gross and attract the broadest audiences.  →  Prioritize these three genres in your initial development slate.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8229600" cy="1078992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50592"/>
            <a:ext cx="64008" cy="107899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734056"/>
            <a:ext cx="493776" cy="493776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73405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8448" y="2523744"/>
            <a:ext cx="7178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$100M–$200M per Tent-Pole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98448" y="2871216"/>
            <a:ext cx="7178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 in the $100–200M budget tier achieve a 93% profit rate — meaning 9 in 10 films recoup their budget — with a median ROI of 2.79×. Larger budgets show higher ROI but require more capital at risk.  →  Start in this tier and scale as the studio matures.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666744"/>
            <a:ext cx="8229600" cy="1078992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66744"/>
            <a:ext cx="64008" cy="107899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950208"/>
            <a:ext cx="493776" cy="493776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9502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8448" y="3739896"/>
            <a:ext cx="7178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Quality — Target Certified Fresh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98448" y="4087368"/>
            <a:ext cx="7178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 scoring above 60% on Rotten Tomatoes earn 30% more revenue than 'Rotten' films. Certified Fresh titles (91–100%) average $47M vs $36M — a clear, measurable premium.  →  Set a quality threshold: only greenlight projects with a clear path to 60%+ RT.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Detailed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actions for each strategic recommendation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170432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64008" cy="117043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53896"/>
            <a:ext cx="384048" cy="384048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53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1887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Sci-Fi, Action &amp; Animation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70432" y="15544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target: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52928" y="1554480"/>
            <a:ext cx="5742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PG-13 for max audience breadth ($56.5M avg vs $23.2M for R-rated)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70432" y="18013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to avoid: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52928" y="1801368"/>
            <a:ext cx="5742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($28.3M avg), Documentary — too low-margin for a new studio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204825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play: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52928" y="2048256"/>
            <a:ext cx="5742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micro-budget ($1–5M) for slate diversification &amp; cash flow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8229600" cy="1170432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95728"/>
            <a:ext cx="64008" cy="117043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2734056"/>
            <a:ext cx="384048" cy="384048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734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24688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$100M–$200M per Tent-Pole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28346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52928" y="2834640"/>
            <a:ext cx="5742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2.79× median ROI = $279M–$558M worldwide on a $100–200M film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70432" y="30815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Micro-budget option: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52928" y="3081528"/>
            <a:ext cx="5742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$1M–$10M horror films for slate diversification &amp; cash flow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70432" y="33284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to avoid: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52928" y="3328416"/>
            <a:ext cx="5742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$10M–$50M range: 66% profit rate — worst risk-adjusted tier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675888"/>
            <a:ext cx="8229600" cy="1170432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675888"/>
            <a:ext cx="64008" cy="117043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4014216"/>
            <a:ext cx="384048" cy="384048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014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70432" y="37490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Quality — Target Certified Fresh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70432" y="411480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strategy: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52928" y="4114800"/>
            <a:ext cx="5742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with strong critical track records for first 3 films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70432" y="43616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investment: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52928" y="4361688"/>
            <a:ext cx="5742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$2M–$5M for development before production greenlight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70432" y="46085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policy: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852928" y="4608576"/>
            <a:ext cx="5742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release rather than cut quality — flexibility is a competitive advantage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objectives, findings and recommendations at a glance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84832" y="10789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50992" y="107899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39712" y="10789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426464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72184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Revenue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84832" y="1472184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Sci-Fi/Fantasy &amp; Action dominate per-film earnings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50992" y="147218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$80.9M &amp; $62.3M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39712" y="1472184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Sci-Fi, Action, Animation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002536"/>
            <a:ext cx="8412480" cy="548640"/>
          </a:xfrm>
          <a:prstGeom prst="rect">
            <a:avLst/>
          </a:prstGeom>
          <a:solidFill>
            <a:srgbClr val="F2F0EB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48256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ROI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84832" y="2048256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$100–200M tier has the best risk-adjusted profit rate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50992" y="2048256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93.1% profit rate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39712" y="204825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$100M–$200M per tent-pole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578608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2432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Quality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84832" y="2624328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Fresh films earn 30% more than Rotten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50992" y="262432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+$10.8M premium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39712" y="2624328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quality — Certified Fresh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154680"/>
            <a:ext cx="8412480" cy="548640"/>
          </a:xfrm>
          <a:prstGeom prst="rect">
            <a:avLst/>
          </a:prstGeom>
          <a:solidFill>
            <a:srgbClr val="F2F0EB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84832" y="3200400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grew 26%; fewer but bigger films each year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50992" y="320040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$24.5B → $30.9B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39712" y="320040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2–3 large films per year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730752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7647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Benchmark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84832" y="3776472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Disney earns 2× nearest rival per film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50992" y="377647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$417M vs $230M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39712" y="3776472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owned IP, family, quality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4306824"/>
            <a:ext cx="8412480" cy="548640"/>
          </a:xfrm>
          <a:prstGeom prst="rect">
            <a:avLst/>
          </a:prstGeom>
          <a:solidFill>
            <a:srgbClr val="F2F0EB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352544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MPAA Rating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084832" y="4352544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PG-13 earns the most; R-rated significantly lower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50992" y="435254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$56.5M vs $23.2M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39712" y="4352544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PG-13 for all tent-poles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Data Notes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caveats to consider when interpreting the findings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8595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16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152144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figures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444752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revenue and budget figures are nominal — not adjusted for inflation. Films from 2010 and 2018 are compared in the same dollar terms despite ~18% cumulative inflation over the period.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822960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48256"/>
            <a:ext cx="64008" cy="8595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67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10312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RT sample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2395728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reception analysis is based on only 299 matched films — directional and meaningful, but not conclusive at the genre or studio level.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822960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99232"/>
            <a:ext cx="64008" cy="8595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18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3054096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P&amp;A costs included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3346704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budgets from The Numbers do not include Prints &amp; Advertising (marketing) spend, which typically equals 50–100% of the production budget. True profitability is lower than the ROI figures suggest.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50208"/>
            <a:ext cx="822960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50208"/>
            <a:ext cx="64008" cy="8595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169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8992" y="4005072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classification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8992" y="4297680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labels differ between datasets: Rotten Tomatoes uses text tags; TMDB uses numeric IDs. Both are used independently, which may lead to inconsistencies across analyses.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2697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Slate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3113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3–5 scripts in Sci-Fi, Action &amp; Animation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99923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top-tier writers and directors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76732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quality review with RT score benchmarks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987552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87552"/>
            <a:ext cx="2697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02412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31673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17556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Partnerships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23113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financing for $100–200M tent-pole productions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299923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studio co-production partners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376732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production infrastructure and legal entities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987552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987552"/>
            <a:ext cx="2697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02412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131673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10+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3640" y="17556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Marketing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223113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production on first approved slate film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3640" y="299923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marketing strategy targeting PG/PG-13 audience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376732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competitive landscape and adjust slate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858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9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0" y="2423160"/>
            <a:ext cx="4023360" cy="36576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2606040"/>
            <a:ext cx="4023360" cy="1691640"/>
          </a:xfrm>
          <a:prstGeom prst="rect">
            <a:avLst/>
          </a:prstGeom>
          <a:solidFill>
            <a:srgbClr val="243A52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27249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Group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29992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Chelimo Ivy  ·  Shadrack Symekah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Oketch  ·  Orandi Felix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36301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Cohort — Moringa School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Box Office Mojo · The Numbers · TMDB · Rotten Tomatoes  |  2010–2018 Theatrical  |  Figures nominal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Box Office Intelligence — EDA for a New Movie Studio</dc:title>
  <dc:subject>PptxGenJS Presentation</dc:subject>
  <dc:creator>PptxGenJS</dc:creator>
  <cp:lastModifiedBy>PptxGenJS</cp:lastModifiedBy>
  <cp:revision>1</cp:revision>
  <dcterms:created xsi:type="dcterms:W3CDTF">2026-03-20T12:48:34Z</dcterms:created>
  <dcterms:modified xsi:type="dcterms:W3CDTF">2026-03-20T12:48:34Z</dcterms:modified>
</cp:coreProperties>
</file>